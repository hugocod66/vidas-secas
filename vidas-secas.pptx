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de abertura. Apresente o título, autor e contexto histórico (Modernismo – 2ª fase, 1938). Mencione que o romance é regionalista e aborda a seca no Nordeste brasileiro.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os seis grandes temas da obra. Pergunte aos alunos se já ouviram falar de algum desses temas. Relacione ao contexto atual do semiárido nordestino.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a estrutura da obra: 13 capítulos não lineares. Destaque que o livro não tem uma narrativa progressiva tradicional — cada capítulo é quase autônomo. A seca é o personagem central.</a:t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Fabiano representa o homem do povo desumanizado pela miséria. Ele mal consegue se comunicar — isso é proposital: Graciliano usa a falta de linguagem para mostrar exclusão social. Pergunte: o que significa não ter palavras para expressar seus sentimentos?</a:t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Sinhá Vitória é o motor da família. Enquanto Fabiano é passivo, ela projeta o futuro. O sonho da 'cama de couro' representa aspiração à dignidade — algo que o pobre raramente alcança. Pergunte: o que significa ter um sonho em meio à miséria?</a:t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Menino Mais Novo representa a perpetuação do ciclo de pobreza. Seus sonhos são limitados ao que conhece — imitar o pai. Isso levanta a questão: quando não há educação, os sonhos também ficam presos.</a:t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capítulo do Menino Mais Velho é um dos mais marcantes. Sua curiosidade — base de todo aprendizado — é punida. Isso simboliza como a educação é negada às classes baixas. Conecte com o ENEM: esse é um tema recorrente nas provas.</a:t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Baleia é paradoxalmente o personagem mais humano. Graciliano inverte a lógica: o animal sente, sonha e sofre mais do que os homens que a cercam. A morte de Baleia é o momento mais emotivo do livro. Por que o autor fez isso?</a:t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Conecte os temas do livro com as competências cobradas no ENEM: Competência 2 (contexto histórico), Competência 3 (interpretação), além das áreas de Humanas e Linguagens. Mostre que Vidas Secas aparece frequentemente em questões de Literatura e também inspira temas de Redação.</a:t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como esses temas se conectam a redações dissertativo-argumentativas. Peça aos alunos para pensar em dados e exemplos concretos que poderiam usar em uma redação sobre cada um desses temas.</a:t>
            </a:r>
            <a:endParaRPr/>
          </a:p>
        </p:txBody>
      </p:sp>
      <p:sp>
        <p:nvSpPr>
          <p:cNvPr id="243" name="Google Shape;2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está intencionalmente em branco para uma atividade interativa com os alunos. Sugestões: quiz oral, votação com post-its, debates em duplas ou dinâmica de perguntas e respostas.</a:t>
            </a:r>
            <a:endParaRPr/>
          </a:p>
        </p:txBody>
      </p:sp>
      <p:sp>
        <p:nvSpPr>
          <p:cNvPr id="277" name="Google Shape;27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Encerre retomando os grandes temas: seca, desigualdade, migração, falta de educação e luta pela sobrevivência. Pergunte: o que mudou desde 1938? O que ainda precisa mudar? Essa reflexão é exatamente o que o ENEM e a vida cobram de nós.</a:t>
            </a:r>
            <a:endParaRPr/>
          </a:p>
        </p:txBody>
      </p:sp>
      <p:sp>
        <p:nvSpPr>
          <p:cNvPr id="288" name="Google Shape;28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7.png"/><Relationship Id="rId9" Type="http://schemas.openxmlformats.org/officeDocument/2006/relationships/image" Target="../media/image31.png"/><Relationship Id="rId5" Type="http://schemas.openxmlformats.org/officeDocument/2006/relationships/image" Target="../media/image21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5.png"/><Relationship Id="rId7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37.png"/><Relationship Id="rId5" Type="http://schemas.openxmlformats.org/officeDocument/2006/relationships/image" Target="../media/image21.png"/><Relationship Id="rId6" Type="http://schemas.openxmlformats.org/officeDocument/2006/relationships/image" Target="../media/image5.png"/><Relationship Id="rId7" Type="http://schemas.openxmlformats.org/officeDocument/2006/relationships/image" Target="../media/image25.png"/><Relationship Id="rId8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29.png"/><Relationship Id="rId6" Type="http://schemas.openxmlformats.org/officeDocument/2006/relationships/image" Target="../media/image21.png"/><Relationship Id="rId7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A2E">
              <a:alpha val="54901"/>
            </a:srgbClr>
          </a:solidFill>
          <a:ln cap="flat" cmpd="sng" w="12700">
            <a:solidFill>
              <a:srgbClr val="0D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02920" y="1188720"/>
            <a:ext cx="109728" cy="2743200"/>
          </a:xfrm>
          <a:prstGeom prst="rect">
            <a:avLst/>
          </a:prstGeom>
          <a:solidFill>
            <a:srgbClr val="C97D2E"/>
          </a:solidFill>
          <a:ln cap="flat" cmpd="sng" w="12700">
            <a:solidFill>
              <a:srgbClr val="C97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77240" y="118872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Georgia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VIDAS SECAS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77240" y="23317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896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D4B896"/>
                </a:solidFill>
                <a:latin typeface="Calibri"/>
                <a:ea typeface="Calibri"/>
                <a:cs typeface="Calibri"/>
                <a:sym typeface="Calibri"/>
              </a:rPr>
              <a:t>Graciliano Ramos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77240" y="28803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89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4B896"/>
                </a:solidFill>
                <a:latin typeface="Calibri"/>
                <a:ea typeface="Calibri"/>
                <a:cs typeface="Calibri"/>
                <a:sym typeface="Calibri"/>
              </a:rPr>
              <a:t>Romance | 1938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77240" y="4206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B4C8"/>
                </a:solidFill>
                <a:latin typeface="Calibri"/>
                <a:ea typeface="Calibri"/>
                <a:cs typeface="Calibri"/>
                <a:sym typeface="Calibri"/>
              </a:rPr>
              <a:t>Ensino Médio  ·  Literatura Brasileira  ·  Modernismo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754880" y="2286000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DAAB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AABF"/>
                </a:solidFill>
                <a:latin typeface="Calibri"/>
                <a:ea typeface="Calibri"/>
                <a:cs typeface="Calibri"/>
                <a:sym typeface="Calibri"/>
              </a:rPr>
              <a:t>"Eram bichos, a cachorra Baleia era a melhor de todos."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2B1F"/>
          </a:solidFill>
          <a:ln cap="flat" cmpd="sng" w="12700">
            <a:solidFill>
              <a:srgbClr val="3D2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 QUE O LIVRO ABORDA?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20040" y="1143000"/>
            <a:ext cx="2743200" cy="1600200"/>
          </a:xfrm>
          <a:prstGeom prst="rect">
            <a:avLst/>
          </a:prstGeom>
          <a:solidFill>
            <a:srgbClr val="FFFFFF">
              <a:alpha val="90196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20040" y="1143000"/>
            <a:ext cx="54864" cy="1600200"/>
          </a:xfrm>
          <a:prstGeom prst="rect">
            <a:avLst/>
          </a:prstGeom>
          <a:solidFill>
            <a:srgbClr val="C97D2E"/>
          </a:solidFill>
          <a:ln cap="flat" cmpd="sng" w="12700">
            <a:solidFill>
              <a:srgbClr val="C97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463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960120" y="1325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Seca no Nordeste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60120" y="17647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A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4A35"/>
                </a:solidFill>
                <a:latin typeface="Calibri"/>
                <a:ea typeface="Calibri"/>
                <a:cs typeface="Calibri"/>
                <a:sym typeface="Calibri"/>
              </a:rPr>
              <a:t>Fenômeno climático devastador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246120" y="1143000"/>
            <a:ext cx="2743200" cy="1600200"/>
          </a:xfrm>
          <a:prstGeom prst="rect">
            <a:avLst/>
          </a:prstGeom>
          <a:solidFill>
            <a:srgbClr val="FFFFFF">
              <a:alpha val="90196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246120" y="1143000"/>
            <a:ext cx="54864" cy="1600200"/>
          </a:xfrm>
          <a:prstGeom prst="rect">
            <a:avLst/>
          </a:prstGeom>
          <a:solidFill>
            <a:srgbClr val="C97D2E"/>
          </a:solidFill>
          <a:ln cap="flat" cmpd="sng" w="12700">
            <a:solidFill>
              <a:srgbClr val="C97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3280" y="1463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3886200" y="1325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Pobreza Extrema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886200" y="17647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A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4A35"/>
                </a:solidFill>
                <a:latin typeface="Calibri"/>
                <a:ea typeface="Calibri"/>
                <a:cs typeface="Calibri"/>
                <a:sym typeface="Calibri"/>
              </a:rPr>
              <a:t>Ausência de recursos e dignidade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172200" y="1143000"/>
            <a:ext cx="2743200" cy="1600200"/>
          </a:xfrm>
          <a:prstGeom prst="rect">
            <a:avLst/>
          </a:prstGeom>
          <a:solidFill>
            <a:srgbClr val="FFFFFF">
              <a:alpha val="90196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172200" y="1143000"/>
            <a:ext cx="54864" cy="1600200"/>
          </a:xfrm>
          <a:prstGeom prst="rect">
            <a:avLst/>
          </a:prstGeom>
          <a:solidFill>
            <a:srgbClr val="C97D2E"/>
          </a:solidFill>
          <a:ln cap="flat" cmpd="sng" w="12700">
            <a:solidFill>
              <a:srgbClr val="C97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9360" y="1463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6812280" y="1325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Desigualdade Social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812280" y="17647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A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4A35"/>
                </a:solidFill>
                <a:latin typeface="Calibri"/>
                <a:ea typeface="Calibri"/>
                <a:cs typeface="Calibri"/>
                <a:sym typeface="Calibri"/>
              </a:rPr>
              <a:t>Abismo entre classes no Brasil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20040" y="2926080"/>
            <a:ext cx="2743200" cy="1600200"/>
          </a:xfrm>
          <a:prstGeom prst="rect">
            <a:avLst/>
          </a:prstGeom>
          <a:solidFill>
            <a:srgbClr val="FFFFFF">
              <a:alpha val="90196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20040" y="2926080"/>
            <a:ext cx="54864" cy="1600200"/>
          </a:xfrm>
          <a:prstGeom prst="rect">
            <a:avLst/>
          </a:prstGeom>
          <a:solidFill>
            <a:srgbClr val="C97D2E"/>
          </a:solidFill>
          <a:ln cap="flat" cmpd="sng" w="12700">
            <a:solidFill>
              <a:srgbClr val="C97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32461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960120" y="3108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Exploração Rural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60120" y="354787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A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4A35"/>
                </a:solidFill>
                <a:latin typeface="Calibri"/>
                <a:ea typeface="Calibri"/>
                <a:cs typeface="Calibri"/>
                <a:sym typeface="Calibri"/>
              </a:rPr>
              <a:t>Trabalhador sem direitos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246120" y="2926080"/>
            <a:ext cx="2743200" cy="1600200"/>
          </a:xfrm>
          <a:prstGeom prst="rect">
            <a:avLst/>
          </a:prstGeom>
          <a:solidFill>
            <a:srgbClr val="FFFFFF">
              <a:alpha val="90196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3246120" y="2926080"/>
            <a:ext cx="54864" cy="1600200"/>
          </a:xfrm>
          <a:prstGeom prst="rect">
            <a:avLst/>
          </a:prstGeom>
          <a:solidFill>
            <a:srgbClr val="C97D2E"/>
          </a:solidFill>
          <a:ln cap="flat" cmpd="sng" w="12700">
            <a:solidFill>
              <a:srgbClr val="C97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83280" y="32461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3886200" y="3108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Falta de Educação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86200" y="354787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A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4A35"/>
                </a:solidFill>
                <a:latin typeface="Calibri"/>
                <a:ea typeface="Calibri"/>
                <a:cs typeface="Calibri"/>
                <a:sym typeface="Calibri"/>
              </a:rPr>
              <a:t>Analfabetismo como exclusão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172200" y="2926080"/>
            <a:ext cx="2743200" cy="1600200"/>
          </a:xfrm>
          <a:prstGeom prst="rect">
            <a:avLst/>
          </a:prstGeom>
          <a:solidFill>
            <a:srgbClr val="FFFFFF">
              <a:alpha val="90196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172200" y="2926080"/>
            <a:ext cx="54864" cy="1600200"/>
          </a:xfrm>
          <a:prstGeom prst="rect">
            <a:avLst/>
          </a:prstGeom>
          <a:solidFill>
            <a:srgbClr val="C97D2E"/>
          </a:solidFill>
          <a:ln cap="flat" cmpd="sng" w="12700">
            <a:solidFill>
              <a:srgbClr val="C97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09360" y="32461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6812280" y="3108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Luta pela Sobrevivência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812280" y="354787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A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4A35"/>
                </a:solidFill>
                <a:latin typeface="Calibri"/>
                <a:ea typeface="Calibri"/>
                <a:cs typeface="Calibri"/>
                <a:sym typeface="Calibri"/>
              </a:rPr>
              <a:t>Resistência humana na adversidade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520">
              <a:alpha val="60000"/>
            </a:srgbClr>
          </a:solidFill>
          <a:ln cap="flat" cmpd="sng" w="12700">
            <a:solidFill>
              <a:srgbClr val="0A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RESUMO DA OBRA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C97D2E"/>
          </a:solidFill>
          <a:ln cap="flat" cmpd="sng" w="12700">
            <a:solidFill>
              <a:srgbClr val="C97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143000" y="1005840"/>
            <a:ext cx="7589520" cy="804672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325880" y="1097280"/>
            <a:ext cx="7223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A família de retirantes foge da seca: Fabiano, Sinhá Vitória, os dois meninos e a cachorra Baleia.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rgbClr val="C97D2E"/>
          </a:solidFill>
          <a:ln cap="flat" cmpd="sng" w="12700">
            <a:solidFill>
              <a:srgbClr val="C97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143000" y="1965960"/>
            <a:ext cx="7589520" cy="804672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325880" y="2057400"/>
            <a:ext cx="7223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Encontram uma fazenda abandonada e se instalam como vaqueiros. Uma certa estabilidade surge.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rgbClr val="C97D2E"/>
          </a:solidFill>
          <a:ln cap="flat" cmpd="sng" w="12700">
            <a:solidFill>
              <a:srgbClr val="C97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143000" y="2926080"/>
            <a:ext cx="7589520" cy="804672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1325880" y="3017520"/>
            <a:ext cx="7223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Fabiano é preso injustamente pelo soldado amarelo, revelando a impotência do pobre diante do poder.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C97D2E"/>
          </a:solidFill>
          <a:ln cap="flat" cmpd="sng" w="12700">
            <a:solidFill>
              <a:srgbClr val="C97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143000" y="3886200"/>
            <a:ext cx="7589520" cy="804672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1325880" y="3977640"/>
            <a:ext cx="7223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A seca retorna. A família sacrifica Baleia e reinicia a jornada, em busca de uma vida melhor.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6D4">
              <a:alpha val="70196"/>
            </a:srgbClr>
          </a:solidFill>
          <a:ln cap="flat" cmpd="sng" w="12700">
            <a:solidFill>
              <a:srgbClr val="F2E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8B4513"/>
          </a:solidFill>
          <a:ln cap="flat" cmpd="sng" w="12700">
            <a:solidFill>
              <a:srgbClr val="8B45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960120" y="777240"/>
            <a:ext cx="1280160" cy="128016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6012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182880" y="224028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FABIANO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82880" y="290779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O Vaqueiro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82880" y="3383280"/>
            <a:ext cx="2834640" cy="1371600"/>
          </a:xfrm>
          <a:prstGeom prst="rect">
            <a:avLst/>
          </a:prstGeom>
          <a:solidFill>
            <a:srgbClr val="000000">
              <a:alpha val="3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274320" y="342900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"Tinha vontade de falar como gente grande, mas as palavras fugiam."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383280" y="25603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D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7D2E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383280" y="5943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PERSONAGEM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383280" y="1389888"/>
            <a:ext cx="201168" cy="201168"/>
          </a:xfrm>
          <a:prstGeom prst="ellipse">
            <a:avLst/>
          </a:prstGeom>
          <a:solidFill>
            <a:srgbClr val="8B4513"/>
          </a:solidFill>
          <a:ln cap="flat" cmpd="sng" w="12700">
            <a:solidFill>
              <a:srgbClr val="8B45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703320" y="128016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Homem simples, bruto e honesto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383280" y="2103120"/>
            <a:ext cx="201168" cy="201168"/>
          </a:xfrm>
          <a:prstGeom prst="ellipse">
            <a:avLst/>
          </a:prstGeom>
          <a:solidFill>
            <a:srgbClr val="8B4513"/>
          </a:solidFill>
          <a:ln cap="flat" cmpd="sng" w="12700">
            <a:solidFill>
              <a:srgbClr val="8B45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3703320" y="1993392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Identifica-se mais com os animais do que com os homens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383280" y="2816352"/>
            <a:ext cx="201168" cy="201168"/>
          </a:xfrm>
          <a:prstGeom prst="ellipse">
            <a:avLst/>
          </a:prstGeom>
          <a:solidFill>
            <a:srgbClr val="8B4513"/>
          </a:solidFill>
          <a:ln cap="flat" cmpd="sng" w="12700">
            <a:solidFill>
              <a:srgbClr val="8B45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3703320" y="2706624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Sente-se incapaz de se expressar pela linguagem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383280" y="3529584"/>
            <a:ext cx="201168" cy="201168"/>
          </a:xfrm>
          <a:prstGeom prst="ellipse">
            <a:avLst/>
          </a:prstGeom>
          <a:solidFill>
            <a:srgbClr val="8B4513"/>
          </a:solidFill>
          <a:ln cap="flat" cmpd="sng" w="12700">
            <a:solidFill>
              <a:srgbClr val="8B45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3703320" y="3419856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Símbolo do trabalhador rural explorado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383280" y="4242816"/>
            <a:ext cx="201168" cy="201168"/>
          </a:xfrm>
          <a:prstGeom prst="ellipse">
            <a:avLst/>
          </a:prstGeom>
          <a:solidFill>
            <a:srgbClr val="8B4513"/>
          </a:solidFill>
          <a:ln cap="flat" cmpd="sng" w="12700">
            <a:solidFill>
              <a:srgbClr val="8B45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3703320" y="4133088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Sonha com dignidade, mas se resigna à opressão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6D4">
              <a:alpha val="85098"/>
            </a:srgbClr>
          </a:solidFill>
          <a:ln cap="flat" cmpd="sng" w="12700">
            <a:solidFill>
              <a:srgbClr val="F2E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7B5E3A"/>
          </a:solidFill>
          <a:ln cap="flat" cmpd="sng" w="12700">
            <a:solidFill>
              <a:srgbClr val="7B5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960120" y="777240"/>
            <a:ext cx="1280160" cy="128016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6012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182880" y="224028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SINHÁ VITÓRIA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82880" y="290779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A Matriarca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82880" y="3383280"/>
            <a:ext cx="2834640" cy="1371600"/>
          </a:xfrm>
          <a:prstGeom prst="rect">
            <a:avLst/>
          </a:prstGeom>
          <a:solidFill>
            <a:srgbClr val="000000">
              <a:alpha val="3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74320" y="342900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"Aquela cama de lastro de varas era uma miséria. Ela queria uma cama de couro."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383280" y="25603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D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7D2E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383280" y="5943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PERSONAGEM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383280" y="1389888"/>
            <a:ext cx="201168" cy="201168"/>
          </a:xfrm>
          <a:prstGeom prst="ellipse">
            <a:avLst/>
          </a:prstGeom>
          <a:solidFill>
            <a:srgbClr val="7B5E3A"/>
          </a:solidFill>
          <a:ln cap="flat" cmpd="sng" w="12700">
            <a:solidFill>
              <a:srgbClr val="7B5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3703320" y="128016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A mais inteligente e determinada da família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383280" y="2103120"/>
            <a:ext cx="201168" cy="201168"/>
          </a:xfrm>
          <a:prstGeom prst="ellipse">
            <a:avLst/>
          </a:prstGeom>
          <a:solidFill>
            <a:srgbClr val="7B5E3A"/>
          </a:solidFill>
          <a:ln cap="flat" cmpd="sng" w="12700">
            <a:solidFill>
              <a:srgbClr val="7B5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3703320" y="1993392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Sonha com uma cama de couro — símbolo de dignidade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383280" y="2816352"/>
            <a:ext cx="201168" cy="201168"/>
          </a:xfrm>
          <a:prstGeom prst="ellipse">
            <a:avLst/>
          </a:prstGeom>
          <a:solidFill>
            <a:srgbClr val="7B5E3A"/>
          </a:solidFill>
          <a:ln cap="flat" cmpd="sng" w="12700">
            <a:solidFill>
              <a:srgbClr val="7B5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3703320" y="2706624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Planeja o futuro quando Fabiano desiste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383280" y="3529584"/>
            <a:ext cx="201168" cy="201168"/>
          </a:xfrm>
          <a:prstGeom prst="ellipse">
            <a:avLst/>
          </a:prstGeom>
          <a:solidFill>
            <a:srgbClr val="7B5E3A"/>
          </a:solidFill>
          <a:ln cap="flat" cmpd="sng" w="12700">
            <a:solidFill>
              <a:srgbClr val="7B5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3703320" y="3419856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Representa a força feminina e a esperança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383280" y="4242816"/>
            <a:ext cx="201168" cy="201168"/>
          </a:xfrm>
          <a:prstGeom prst="ellipse">
            <a:avLst/>
          </a:prstGeom>
          <a:solidFill>
            <a:srgbClr val="7B5E3A"/>
          </a:solidFill>
          <a:ln cap="flat" cmpd="sng" w="12700">
            <a:solidFill>
              <a:srgbClr val="7B5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3703320" y="4133088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Sua cama de couro é o grande sonho da obra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6D4">
              <a:alpha val="85098"/>
            </a:srgbClr>
          </a:solidFill>
          <a:ln cap="flat" cmpd="sng" w="12700">
            <a:solidFill>
              <a:srgbClr val="F2E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5B7A3D"/>
          </a:solidFill>
          <a:ln cap="flat" cmpd="sng" w="12700">
            <a:solidFill>
              <a:srgbClr val="5B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960120" y="777240"/>
            <a:ext cx="1280160" cy="128016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6012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182880" y="224028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MENINO MAIS NOVO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82880" y="290779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A Curiosidade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82880" y="3383280"/>
            <a:ext cx="2834640" cy="1371600"/>
          </a:xfrm>
          <a:prstGeom prst="rect">
            <a:avLst/>
          </a:prstGeom>
          <a:solidFill>
            <a:srgbClr val="000000">
              <a:alpha val="3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274320" y="342900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"Queria ser como Fabiano, andar a cavalo, gritar com o gado."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383280" y="25603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D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7D2E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383280" y="5943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PERSONAGEM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383280" y="1389888"/>
            <a:ext cx="201168" cy="201168"/>
          </a:xfrm>
          <a:prstGeom prst="ellipse">
            <a:avLst/>
          </a:prstGeom>
          <a:solidFill>
            <a:srgbClr val="5B7A3D"/>
          </a:solidFill>
          <a:ln cap="flat" cmpd="sng" w="12700">
            <a:solidFill>
              <a:srgbClr val="5B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703320" y="128016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Fascinado pelo mundo ao redor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383280" y="2103120"/>
            <a:ext cx="201168" cy="201168"/>
          </a:xfrm>
          <a:prstGeom prst="ellipse">
            <a:avLst/>
          </a:prstGeom>
          <a:solidFill>
            <a:srgbClr val="5B7A3D"/>
          </a:solidFill>
          <a:ln cap="flat" cmpd="sng" w="12700">
            <a:solidFill>
              <a:srgbClr val="5B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3703320" y="1993392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Quer imitar o pai e ser vaqueiro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383280" y="2816352"/>
            <a:ext cx="201168" cy="201168"/>
          </a:xfrm>
          <a:prstGeom prst="ellipse">
            <a:avLst/>
          </a:prstGeom>
          <a:solidFill>
            <a:srgbClr val="5B7A3D"/>
          </a:solidFill>
          <a:ln cap="flat" cmpd="sng" w="12700">
            <a:solidFill>
              <a:srgbClr val="5B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703320" y="2706624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Representa a infância roubada pela pobreza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383280" y="3529584"/>
            <a:ext cx="201168" cy="201168"/>
          </a:xfrm>
          <a:prstGeom prst="ellipse">
            <a:avLst/>
          </a:prstGeom>
          <a:solidFill>
            <a:srgbClr val="5B7A3D"/>
          </a:solidFill>
          <a:ln cap="flat" cmpd="sng" w="12700">
            <a:solidFill>
              <a:srgbClr val="5B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3703320" y="3419856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Pouco espaço para a imaginação na sua realidade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383280" y="4242816"/>
            <a:ext cx="201168" cy="201168"/>
          </a:xfrm>
          <a:prstGeom prst="ellipse">
            <a:avLst/>
          </a:prstGeom>
          <a:solidFill>
            <a:srgbClr val="5B7A3D"/>
          </a:solidFill>
          <a:ln cap="flat" cmpd="sng" w="12700">
            <a:solidFill>
              <a:srgbClr val="5B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3703320" y="4133088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Símbolo do ciclo de exclusão que se repete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6D4">
              <a:alpha val="85098"/>
            </a:srgbClr>
          </a:solidFill>
          <a:ln cap="flat" cmpd="sng" w="12700">
            <a:solidFill>
              <a:srgbClr val="F2E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6B7A"/>
          </a:solidFill>
          <a:ln cap="flat" cmpd="sng" w="12700">
            <a:solidFill>
              <a:srgbClr val="4A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960120" y="777240"/>
            <a:ext cx="1280160" cy="128016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6012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/>
          <p:nvPr/>
        </p:nvSpPr>
        <p:spPr>
          <a:xfrm>
            <a:off x="182880" y="224028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MENINO MAIS VELHO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182880" y="290779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A Linguagem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182880" y="3383280"/>
            <a:ext cx="2834640" cy="1371600"/>
          </a:xfrm>
          <a:prstGeom prst="rect">
            <a:avLst/>
          </a:prstGeom>
          <a:solidFill>
            <a:srgbClr val="000000">
              <a:alpha val="3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274320" y="342900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"O menino mais velho queria saber o que era inferno."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3383280" y="25603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D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7D2E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3383280" y="5943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PERSONAGEM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383280" y="1389888"/>
            <a:ext cx="201168" cy="201168"/>
          </a:xfrm>
          <a:prstGeom prst="ellipse">
            <a:avLst/>
          </a:prstGeom>
          <a:solidFill>
            <a:srgbClr val="4A6B7A"/>
          </a:solidFill>
          <a:ln cap="flat" cmpd="sng" w="12700">
            <a:solidFill>
              <a:srgbClr val="4A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3703320" y="128016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Curioso com as palavras e seu significado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3383280" y="2103120"/>
            <a:ext cx="201168" cy="201168"/>
          </a:xfrm>
          <a:prstGeom prst="ellipse">
            <a:avLst/>
          </a:prstGeom>
          <a:solidFill>
            <a:srgbClr val="4A6B7A"/>
          </a:solidFill>
          <a:ln cap="flat" cmpd="sng" w="12700">
            <a:solidFill>
              <a:srgbClr val="4A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3703320" y="1993392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Pergunta o que significa 'inferno' — e é castigado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383280" y="2816352"/>
            <a:ext cx="201168" cy="201168"/>
          </a:xfrm>
          <a:prstGeom prst="ellipse">
            <a:avLst/>
          </a:prstGeom>
          <a:solidFill>
            <a:srgbClr val="4A6B7A"/>
          </a:solidFill>
          <a:ln cap="flat" cmpd="sng" w="12700">
            <a:solidFill>
              <a:srgbClr val="4A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3703320" y="2706624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Representa o desejo de aprender e compreender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383280" y="3529584"/>
            <a:ext cx="201168" cy="201168"/>
          </a:xfrm>
          <a:prstGeom prst="ellipse">
            <a:avLst/>
          </a:prstGeom>
          <a:solidFill>
            <a:srgbClr val="4A6B7A"/>
          </a:solidFill>
          <a:ln cap="flat" cmpd="sng" w="12700">
            <a:solidFill>
              <a:srgbClr val="4A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3703320" y="3419856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Episódio emblemático da supressão intelectual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3383280" y="4242816"/>
            <a:ext cx="201168" cy="201168"/>
          </a:xfrm>
          <a:prstGeom prst="ellipse">
            <a:avLst/>
          </a:prstGeom>
          <a:solidFill>
            <a:srgbClr val="4A6B7A"/>
          </a:solidFill>
          <a:ln cap="flat" cmpd="sng" w="12700">
            <a:solidFill>
              <a:srgbClr val="4A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703320" y="4133088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Símbolo da educação negada ao pobre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5" name="Google Shape;1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6D4">
              <a:alpha val="85098"/>
            </a:srgbClr>
          </a:solidFill>
          <a:ln cap="flat" cmpd="sng" w="12700">
            <a:solidFill>
              <a:srgbClr val="F2E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6B5A3D"/>
          </a:solidFill>
          <a:ln cap="flat" cmpd="sng" w="12700">
            <a:solidFill>
              <a:srgbClr val="6B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960120" y="777240"/>
            <a:ext cx="1280160" cy="128016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96012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/>
          <p:nvPr/>
        </p:nvSpPr>
        <p:spPr>
          <a:xfrm>
            <a:off x="182880" y="224028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BALEIA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182880" y="290779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A Cachorra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82880" y="3383280"/>
            <a:ext cx="2834640" cy="1371600"/>
          </a:xfrm>
          <a:prstGeom prst="rect">
            <a:avLst/>
          </a:prstGeom>
          <a:solidFill>
            <a:srgbClr val="000000">
              <a:alpha val="3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274320" y="342900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"Baleia queria dormir. Acordaria num mundo cheio de preás."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3383280" y="25603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D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7D2E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3383280" y="5943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PERSONAGEM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3383280" y="1389888"/>
            <a:ext cx="201168" cy="201168"/>
          </a:xfrm>
          <a:prstGeom prst="ellipse">
            <a:avLst/>
          </a:prstGeom>
          <a:solidFill>
            <a:srgbClr val="6B5A3D"/>
          </a:solidFill>
          <a:ln cap="flat" cmpd="sng" w="12700">
            <a:solidFill>
              <a:srgbClr val="6B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3703320" y="128016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A mais humana de todos os personagens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383280" y="2103120"/>
            <a:ext cx="201168" cy="201168"/>
          </a:xfrm>
          <a:prstGeom prst="ellipse">
            <a:avLst/>
          </a:prstGeom>
          <a:solidFill>
            <a:srgbClr val="6B5A3D"/>
          </a:solidFill>
          <a:ln cap="flat" cmpd="sng" w="12700">
            <a:solidFill>
              <a:srgbClr val="6B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3703320" y="1993392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Compreende e sente mais do que os humanos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383280" y="2816352"/>
            <a:ext cx="201168" cy="201168"/>
          </a:xfrm>
          <a:prstGeom prst="ellipse">
            <a:avLst/>
          </a:prstGeom>
          <a:solidFill>
            <a:srgbClr val="6B5A3D"/>
          </a:solidFill>
          <a:ln cap="flat" cmpd="sng" w="12700">
            <a:solidFill>
              <a:srgbClr val="6B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3703320" y="2706624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Seu sonho com preás é o único momento de esperança pura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383280" y="3529584"/>
            <a:ext cx="201168" cy="201168"/>
          </a:xfrm>
          <a:prstGeom prst="ellipse">
            <a:avLst/>
          </a:prstGeom>
          <a:solidFill>
            <a:srgbClr val="6B5A3D"/>
          </a:solidFill>
          <a:ln cap="flat" cmpd="sng" w="12700">
            <a:solidFill>
              <a:srgbClr val="6B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3703320" y="3419856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Sua morte é o clímax emocional da obra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383280" y="4242816"/>
            <a:ext cx="201168" cy="201168"/>
          </a:xfrm>
          <a:prstGeom prst="ellipse">
            <a:avLst/>
          </a:prstGeom>
          <a:solidFill>
            <a:srgbClr val="6B5A3D"/>
          </a:solidFill>
          <a:ln cap="flat" cmpd="sng" w="12700">
            <a:solidFill>
              <a:srgbClr val="6B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3703320" y="4133088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Crítica: o animal tem mais humanidade que a sociedade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1" name="Google Shape;2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6B9E"/>
          </a:solidFill>
          <a:ln cap="flat" cmpd="sng" w="12700">
            <a:solidFill>
              <a:srgbClr val="2E6B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VIDAS SECAS &amp; ENEM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" y="121615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1"/>
          <p:cNvSpPr/>
          <p:nvPr/>
        </p:nvSpPr>
        <p:spPr>
          <a:xfrm>
            <a:off x="1005840" y="11887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9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6B9E"/>
                </a:solidFill>
                <a:latin typeface="Calibri"/>
                <a:ea typeface="Calibri"/>
                <a:cs typeface="Calibri"/>
                <a:sym typeface="Calibri"/>
              </a:rPr>
              <a:t>Questões Ambientais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84632" y="1737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Seca e desertificação  ·  Semiárido brasileiro  ·  Convivência com a seca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4663440" y="1051560"/>
            <a:ext cx="4023360" cy="1737360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8032" y="121615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1"/>
          <p:cNvSpPr/>
          <p:nvPr/>
        </p:nvSpPr>
        <p:spPr>
          <a:xfrm>
            <a:off x="5349240" y="11887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9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6B9E"/>
                </a:solidFill>
                <a:latin typeface="Calibri"/>
                <a:ea typeface="Calibri"/>
                <a:cs typeface="Calibri"/>
                <a:sym typeface="Calibri"/>
              </a:rPr>
              <a:t>Questões Sociais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828032" y="1737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Desigualdade de classes  ·  Exploração do trabalhador  ·  Exclusão social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320040" y="2971800"/>
            <a:ext cx="4023360" cy="1737360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632" y="31363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1"/>
          <p:cNvSpPr/>
          <p:nvPr/>
        </p:nvSpPr>
        <p:spPr>
          <a:xfrm>
            <a:off x="1005840" y="31089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9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6B9E"/>
                </a:solidFill>
                <a:latin typeface="Calibri"/>
                <a:ea typeface="Calibri"/>
                <a:cs typeface="Calibri"/>
                <a:sym typeface="Calibri"/>
              </a:rPr>
              <a:t>Educação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84632" y="365760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Analfabetismo no Brasil  ·  Acesso à escola  ·  Linguagem e poder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663440" y="2971800"/>
            <a:ext cx="4023360" cy="1737360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8032" y="31363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/>
          <p:nvPr/>
        </p:nvSpPr>
        <p:spPr>
          <a:xfrm>
            <a:off x="5349240" y="31089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9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6B9E"/>
                </a:solidFill>
                <a:latin typeface="Calibri"/>
                <a:ea typeface="Calibri"/>
                <a:cs typeface="Calibri"/>
                <a:sym typeface="Calibri"/>
              </a:rPr>
              <a:t>Migração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828032" y="365760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416"/>
                </a:solidFill>
                <a:latin typeface="Calibri"/>
                <a:ea typeface="Calibri"/>
                <a:cs typeface="Calibri"/>
                <a:sym typeface="Calibri"/>
              </a:rPr>
              <a:t>Êxodo rural nordestino  ·  Busca por condições dignas  ·  Identidade e pertencimento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5" name="Google Shape;2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E0C8">
              <a:alpha val="60000"/>
            </a:srgbClr>
          </a:solidFill>
          <a:ln cap="flat" cmpd="sng" w="12700">
            <a:solidFill>
              <a:srgbClr val="F0E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4513"/>
          </a:solidFill>
          <a:ln cap="flat" cmpd="sng" w="12700">
            <a:solidFill>
              <a:srgbClr val="8B45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POSSÍVEIS TEMAS DE REDAÇÃO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365760" y="1051560"/>
            <a:ext cx="8412480" cy="694944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365760" y="1051560"/>
            <a:ext cx="73152" cy="694944"/>
          </a:xfrm>
          <a:prstGeom prst="rect">
            <a:avLst/>
          </a:prstGeom>
          <a:solidFill>
            <a:srgbClr val="8B4513"/>
          </a:solidFill>
          <a:ln cap="flat" cmpd="sng" w="12700">
            <a:solidFill>
              <a:srgbClr val="8B45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11887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2"/>
          <p:cNvSpPr/>
          <p:nvPr/>
        </p:nvSpPr>
        <p:spPr>
          <a:xfrm>
            <a:off x="1115568" y="10972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Impactos da Seca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1115568" y="1417320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4030"/>
                </a:solidFill>
                <a:latin typeface="Calibri"/>
                <a:ea typeface="Calibri"/>
                <a:cs typeface="Calibri"/>
                <a:sym typeface="Calibri"/>
              </a:rPr>
              <a:t>Consequências climáticas, sociais e econômicas do semiárido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365760" y="1837944"/>
            <a:ext cx="8412480" cy="694944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365760" y="1837944"/>
            <a:ext cx="73152" cy="694944"/>
          </a:xfrm>
          <a:prstGeom prst="rect">
            <a:avLst/>
          </a:prstGeom>
          <a:solidFill>
            <a:srgbClr val="8B4513"/>
          </a:solidFill>
          <a:ln cap="flat" cmpd="sng" w="12700">
            <a:solidFill>
              <a:srgbClr val="8B45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6" name="Google Shape;25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197510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2"/>
          <p:cNvSpPr/>
          <p:nvPr/>
        </p:nvSpPr>
        <p:spPr>
          <a:xfrm>
            <a:off x="1115568" y="1883664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Desigualdade Social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1115568" y="2203704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4030"/>
                </a:solidFill>
                <a:latin typeface="Calibri"/>
                <a:ea typeface="Calibri"/>
                <a:cs typeface="Calibri"/>
                <a:sym typeface="Calibri"/>
              </a:rPr>
              <a:t>Abismos históricos entre ricos e pobres no Brasil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365760" y="2624328"/>
            <a:ext cx="8412480" cy="694944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365760" y="2624328"/>
            <a:ext cx="73152" cy="694944"/>
          </a:xfrm>
          <a:prstGeom prst="rect">
            <a:avLst/>
          </a:prstGeom>
          <a:solidFill>
            <a:srgbClr val="8B4513"/>
          </a:solidFill>
          <a:ln cap="flat" cmpd="sng" w="12700">
            <a:solidFill>
              <a:srgbClr val="8B45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360" y="27614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2"/>
          <p:cNvSpPr/>
          <p:nvPr/>
        </p:nvSpPr>
        <p:spPr>
          <a:xfrm>
            <a:off x="1115568" y="267004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Educação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1115568" y="2990088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4030"/>
                </a:solidFill>
                <a:latin typeface="Calibri"/>
                <a:ea typeface="Calibri"/>
                <a:cs typeface="Calibri"/>
                <a:sym typeface="Calibri"/>
              </a:rPr>
              <a:t>Direito à educação e seu papel na superação da pobreza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365760" y="3410712"/>
            <a:ext cx="8412480" cy="694944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365760" y="3410712"/>
            <a:ext cx="73152" cy="694944"/>
          </a:xfrm>
          <a:prstGeom prst="rect">
            <a:avLst/>
          </a:prstGeom>
          <a:solidFill>
            <a:srgbClr val="8B4513"/>
          </a:solidFill>
          <a:ln cap="flat" cmpd="sng" w="12700">
            <a:solidFill>
              <a:srgbClr val="8B45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4360" y="35478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2"/>
          <p:cNvSpPr/>
          <p:nvPr/>
        </p:nvSpPr>
        <p:spPr>
          <a:xfrm>
            <a:off x="1115568" y="34564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Migração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1115568" y="3776472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4030"/>
                </a:solidFill>
                <a:latin typeface="Calibri"/>
                <a:ea typeface="Calibri"/>
                <a:cs typeface="Calibri"/>
                <a:sym typeface="Calibri"/>
              </a:rPr>
              <a:t>Êxodo rural e os desafios dos retirantes nas cidades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365760" y="4197096"/>
            <a:ext cx="8412480" cy="694944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D4B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365760" y="4197096"/>
            <a:ext cx="73152" cy="694944"/>
          </a:xfrm>
          <a:prstGeom prst="rect">
            <a:avLst/>
          </a:prstGeom>
          <a:solidFill>
            <a:srgbClr val="8B4513"/>
          </a:solidFill>
          <a:ln cap="flat" cmpd="sng" w="12700">
            <a:solidFill>
              <a:srgbClr val="8B45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4360" y="43342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2"/>
          <p:cNvSpPr/>
          <p:nvPr/>
        </p:nvSpPr>
        <p:spPr>
          <a:xfrm>
            <a:off x="1115568" y="4242816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Vulnerabilidade Social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1115568" y="4562856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4030"/>
                </a:solidFill>
                <a:latin typeface="Calibri"/>
                <a:ea typeface="Calibri"/>
                <a:cs typeface="Calibri"/>
                <a:sym typeface="Calibri"/>
              </a:rPr>
              <a:t>Populações em situação de risco e políticas públicas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9" name="Google Shape;2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7C5C"/>
          </a:solidFill>
          <a:ln cap="flat" cmpd="sng" w="12700">
            <a:solidFill>
              <a:srgbClr val="6B7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PERGUNTAS SOBRE O LIVRO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1371600" y="1371600"/>
            <a:ext cx="6400800" cy="3017520"/>
          </a:xfrm>
          <a:prstGeom prst="rect">
            <a:avLst/>
          </a:prstGeom>
          <a:solidFill>
            <a:srgbClr val="FFFFFF">
              <a:alpha val="54901"/>
            </a:srgbClr>
          </a:solidFill>
          <a:ln cap="flat" cmpd="sng" w="25400">
            <a:solidFill>
              <a:srgbClr val="D4B8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3" name="Google Shape;28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4528" y="16459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3"/>
          <p:cNvSpPr/>
          <p:nvPr/>
        </p:nvSpPr>
        <p:spPr>
          <a:xfrm>
            <a:off x="1828800" y="24231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8B4513"/>
                </a:solidFill>
                <a:latin typeface="Calibri"/>
                <a:ea typeface="Calibri"/>
                <a:cs typeface="Calibri"/>
                <a:sym typeface="Calibri"/>
              </a:rPr>
              <a:t>Tópico reservado para atividade interativa.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0" name="Google Shape;2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A2E">
              <a:alpha val="70196"/>
            </a:srgbClr>
          </a:solidFill>
          <a:ln cap="flat" cmpd="sng" w="12700">
            <a:solidFill>
              <a:srgbClr val="0D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502920" y="731520"/>
            <a:ext cx="109728" cy="3657600"/>
          </a:xfrm>
          <a:prstGeom prst="rect">
            <a:avLst/>
          </a:prstGeom>
          <a:solidFill>
            <a:srgbClr val="C97D2E"/>
          </a:solidFill>
          <a:ln cap="flat" cmpd="sng" w="12700">
            <a:solidFill>
              <a:srgbClr val="C97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777240" y="73152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CONCLUSÃO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16002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4"/>
          <p:cNvSpPr/>
          <p:nvPr/>
        </p:nvSpPr>
        <p:spPr>
          <a:xfrm>
            <a:off x="1261872" y="150876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Vidas Secas é um clássico do Modernismo brasileiro e da Literatura Universal.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24048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4"/>
          <p:cNvSpPr/>
          <p:nvPr/>
        </p:nvSpPr>
        <p:spPr>
          <a:xfrm>
            <a:off x="1261872" y="2313432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O semiárido nordestino não é apenas cenário — é o próprio agente da tragédia.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32095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4"/>
          <p:cNvSpPr/>
          <p:nvPr/>
        </p:nvSpPr>
        <p:spPr>
          <a:xfrm>
            <a:off x="1261872" y="3118104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Os temas (seca, desigualdade, migração, educação) continuam urgentes no Brasil.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240" y="40142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/>
          <p:nvPr/>
        </p:nvSpPr>
        <p:spPr>
          <a:xfrm>
            <a:off x="1261872" y="3922776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0C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0CE"/>
                </a:solidFill>
                <a:latin typeface="Calibri"/>
                <a:ea typeface="Calibri"/>
                <a:cs typeface="Calibri"/>
                <a:sym typeface="Calibri"/>
              </a:rPr>
              <a:t>A obra convida à empatia: ver humanidade naqueles que a sociedade invisibiliza.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777240" y="4663440"/>
            <a:ext cx="7955280" cy="320040"/>
          </a:xfrm>
          <a:prstGeom prst="rect">
            <a:avLst/>
          </a:prstGeom>
          <a:solidFill>
            <a:srgbClr val="C97D2E">
              <a:alpha val="25098"/>
            </a:srgbClr>
          </a:solidFill>
          <a:ln cap="flat" cmpd="sng" w="12700">
            <a:solidFill>
              <a:srgbClr val="C97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777240" y="466344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B89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4B896"/>
                </a:solidFill>
                <a:latin typeface="Calibri"/>
                <a:ea typeface="Calibri"/>
                <a:cs typeface="Calibri"/>
                <a:sym typeface="Calibri"/>
              </a:rPr>
              <a:t>"Uma obra não envelhece quando os problemas que retrata ainda existem."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